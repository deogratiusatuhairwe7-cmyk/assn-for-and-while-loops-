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23"/>
  </p:notesMasterIdLst>
  <p:sldIdLst>
    <p:sldId id="276" r:id="rId2"/>
    <p:sldId id="27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63B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B263B"/>
                </a:solidFill>
                <a:latin typeface="Calibri"/>
              </a:rPr>
              <a:t>Error |x(n+1) − x(n)| per iteration (log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Iter 1</c:v>
                </c:pt>
                <c:pt idx="1">
                  <c:v>Iter 2</c:v>
                </c:pt>
                <c:pt idx="2">
                  <c:v>Iter 3</c:v>
                </c:pt>
                <c:pt idx="3">
                  <c:v>Iter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0.10000000000000009</c:v>
                </c:pt>
                <c:pt idx="1">
                  <c:v>5.4318788958149788E-3</c:v>
                </c:pt>
                <c:pt idx="2">
                  <c:v>1.6639405985952038E-5</c:v>
                </c:pt>
                <c:pt idx="3">
                  <c:v>1.5587264812211288E-10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6-4627-9C6F-2C02253AE4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"/>
          <c:min val="9.9999999999999994E-12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0.0E+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63B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B263B"/>
                </a:solidFill>
                <a:latin typeface="Calibri"/>
              </a:rPr>
              <a:t>Error |x(n+1) − x(n)| per iteration (log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Iter 1</c:v>
                </c:pt>
                <c:pt idx="1">
                  <c:v>Iter 2</c:v>
                </c:pt>
                <c:pt idx="2">
                  <c:v>Iter 3</c:v>
                </c:pt>
                <c:pt idx="3">
                  <c:v>Iter 4</c:v>
                </c:pt>
                <c:pt idx="4">
                  <c:v>Iter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0.31492664267395487</c:v>
                </c:pt>
                <c:pt idx="1">
                  <c:v>5.1225640287608898E-2</c:v>
                </c:pt>
                <c:pt idx="2">
                  <c:v>2.8203642979752752E-3</c:v>
                </c:pt>
                <c:pt idx="3">
                  <c:v>3.4249784165441E-5</c:v>
                </c:pt>
                <c:pt idx="4">
                  <c:v>2.1087537382946664E-8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14-4732-BAA8-A9E519910D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"/>
          <c:min val="1.0000000000000001E-9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0.0E+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63B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B263B"/>
                </a:solidFill>
                <a:latin typeface="Calibri"/>
              </a:rPr>
              <a:t>Absolute error vs exact solution (×10⁻⁶)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6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1.0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0.16948462877586223</c:v>
                </c:pt>
                <c:pt idx="1">
                  <c:v>0.37461895074919482</c:v>
                </c:pt>
                <c:pt idx="2">
                  <c:v>0.6210269312134642</c:v>
                </c:pt>
                <c:pt idx="3">
                  <c:v>0.91512116950909217</c:v>
                </c:pt>
                <c:pt idx="4">
                  <c:v>1.2642065803092351</c:v>
                </c:pt>
                <c:pt idx="5">
                  <c:v>1.6765971517784806</c:v>
                </c:pt>
                <c:pt idx="6">
                  <c:v>2.1617473997537218</c:v>
                </c:pt>
                <c:pt idx="7">
                  <c:v>2.7304003045180991</c:v>
                </c:pt>
                <c:pt idx="8">
                  <c:v>3.3947537576572984</c:v>
                </c:pt>
                <c:pt idx="9">
                  <c:v>4.1686477585400894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83-4982-A5C6-4DF0BF5A30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649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0071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2815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096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4049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1830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4628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9423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1932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4763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6977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7943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85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23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F59D-17F5-1CCC-713F-50650DC16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AMI MATLAB GROUP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BC817-657C-7D4F-D190-8D820EBCB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76368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3ADDC2-F52A-015C-E444-1A27D04EF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03806"/>
              </p:ext>
            </p:extLst>
          </p:nvPr>
        </p:nvGraphicFramePr>
        <p:xfrm>
          <a:off x="368967" y="633662"/>
          <a:ext cx="8053137" cy="36495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4081">
                  <a:extLst>
                    <a:ext uri="{9D8B030D-6E8A-4147-A177-3AD203B41FA5}">
                      <a16:colId xmlns:a16="http://schemas.microsoft.com/office/drawing/2014/main" val="2675395862"/>
                    </a:ext>
                  </a:extLst>
                </a:gridCol>
                <a:gridCol w="2684081">
                  <a:extLst>
                    <a:ext uri="{9D8B030D-6E8A-4147-A177-3AD203B41FA5}">
                      <a16:colId xmlns:a16="http://schemas.microsoft.com/office/drawing/2014/main" val="1855303335"/>
                    </a:ext>
                  </a:extLst>
                </a:gridCol>
                <a:gridCol w="2684975">
                  <a:extLst>
                    <a:ext uri="{9D8B030D-6E8A-4147-A177-3AD203B41FA5}">
                      <a16:colId xmlns:a16="http://schemas.microsoft.com/office/drawing/2014/main" val="1538044367"/>
                    </a:ext>
                  </a:extLst>
                </a:gridCol>
              </a:tblGrid>
              <a:tr h="5213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NAME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REG NO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COURSE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324092"/>
                  </a:ext>
                </a:extLst>
              </a:tr>
              <a:tr h="5213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NAKANWAGI CATHERINE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BU/UG/2025/4412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AMI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3732696"/>
                  </a:ext>
                </a:extLst>
              </a:tr>
              <a:tr h="5213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AYEBALE LAMEX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BU/UG/2025/4410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AMI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7163796"/>
                  </a:ext>
                </a:extLst>
              </a:tr>
              <a:tr h="5213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ATUHAIRWE DEOGRATIUS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BU/UG/2025/4409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AMI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7485591"/>
                  </a:ext>
                </a:extLst>
              </a:tr>
              <a:tr h="5213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WEMBABAZI IVAN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BU/UG/2025/4414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AMI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3152748"/>
                  </a:ext>
                </a:extLst>
              </a:tr>
              <a:tr h="5213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NSAMBA GODWIN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BU/UP/2025/1960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AMI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6846030"/>
                  </a:ext>
                </a:extLst>
              </a:tr>
              <a:tr h="5213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WAMUWAYA SULAIMAN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BU/UP/2025/2146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AMI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1291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290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822960"/>
            <a:ext cx="2377440" cy="23774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468880"/>
            <a:ext cx="1554480" cy="1554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1417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04088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Methods using FOR and WHILE Loops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 ·  Secant  ·  Runge-Kutta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Flowcharts, pseudo code and MATLAB code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methods, two loop styles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Newton-Raphson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finding using the derivative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x³ − 2x − 5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finding without a derivative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cos(x) − 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Runge-Kutta (RK4)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first-order ODE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dy/dx = x + y,  y(0) = 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is written with a for loop and a while loop, with a flowchart, pseudo code, MATLAB code and output.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Newton-Raphson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real root of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x³ − 2x − 5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guess x0 = 2, tolerance 10⁻⁶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x(n+1) = x(n) − f(x(n)) / f′(x(n))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f′(x) = 3x² − 2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0233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3840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2.094551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40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found in 4 iterations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2" name="Chart 0"/>
          <p:cNvGraphicFramePr/>
          <p:nvPr/>
        </p:nvGraphicFramePr>
        <p:xfrm>
          <a:off x="4754880" y="123444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&amp; pseudo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nr_f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21" y="1234440"/>
            <a:ext cx="3888358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57276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f'(x), x0, tol,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x0 - f(x0) / f'(x0)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|x1 - x0|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i, x1, err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ENDIF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root x1 and iterations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code &amp;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56616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Newton-Raphson using a FOR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x^3 - 2*x - 5;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3*x^2 - 2;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2;  tol = 1e-6;  maxit = 50;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1:maxit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 = x0 - f(x0)/df(x0);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abs(x1 - x0);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fprintf('Iter %2d:  x = %.8f   error = %.2e\n', i, x1, err);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 found in %d iterations\n', x1, i);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57276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1:  x = 2.10000000   error = 1.00e-01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2:  x = 2.09456812   error = 5.43e-03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3:  x = 2.09455148   error = 1.66e-05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4:  x = 2.09455148   error = 1.56e-10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2.094551 found in 4 iterations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&amp; pseudo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nr_wh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59590"/>
            <a:ext cx="3931920" cy="29329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57276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f'(x), x0, tol,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=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AND iter &lt;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x0 - f(x0) / f'(x0)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|x1 - x0|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 = iter + 1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iter, x0, err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root x0 and iterations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code &amp;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56616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Newton-Raphson using a WHILE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x^3 - 2*x - 5;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3*x^2 - 2;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2;  tol = 1e-6;  maxit = 50;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= 0;  err 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&amp;&amp; iter &lt; maxit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  = x0 - f(x0)/df(x0);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 = abs(x1 - x0);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  = x1;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 = iter + 1;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fprintf('Iter %2d:  x = %.8f   error = %.2e\n', iter, x0, err);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 found in %d iterations\n', x0, iter);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57276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1:  x = 2.10000000   error = 1.00e-01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2:  x = 2.09456812   error = 5.43e-03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3:  x = 2.09455148   error = 1.66e-05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4:  x = 2.09455148   error = 1.56e-10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2.094551 found in 4 iterations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Secant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real root of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cos(x) − x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x0 = 0, x1 = 1, tolerance 10⁻⁶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x(n+1) = x(n) − f(x(n))·(x(n) − x(n−1))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/ (f(x(n)) − f(x(n−1)))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derivative needed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0233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3840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0.739085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40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found in 5 iterations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2" name="Chart 0"/>
          <p:cNvGraphicFramePr/>
          <p:nvPr/>
        </p:nvGraphicFramePr>
        <p:xfrm>
          <a:off x="4754880" y="123444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SECANT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&amp; pseudo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sec_f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52" y="1234440"/>
            <a:ext cx="3744497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57276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x0, x1, tol,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= x1 - f(x1)*(x1 - x0)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/ (f(x1) - f(x0))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|x2 - x1|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i, x2, err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ENDIF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root x2 and iterations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SECANT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code &amp;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56616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Secant method using a FOR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cos(x) - x;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 x1 = 1;  tol = 1e-6;  maxit = 50;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1:maxit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= x1 - f(x1)*(x1 - x0)/(f(x1) - f(x0));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abs(x2 - x1);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fprintf('Iter %2d:  x = %.8f   error = %.2e\n', i, x2, err);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x2;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 found in %d iterations\n', x2, i);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57276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1:  x = 0.68507336   error = 3.15e-01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2:  x = 0.73629900   error = 5.12e-02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3:  x = 0.73911936   error = 2.82e-03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4:  x = 0.73908511   error = 3.42e-05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5:  x = 0.73908513   error = 2.11e-08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0.739085 found in 5 iterations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SECANT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&amp; pseudo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sec_wh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3914"/>
            <a:ext cx="3931920" cy="30043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57276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f(x), x0, x1, tol,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=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AND iter &lt; maxit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= x1 - f(x1)*(x1 - x0)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/ (f(x1) - f(x0))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|x2 - x1|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 = iter + 1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iter, x1, err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root x1 and iterations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SECANT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code &amp;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56616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Secant method using a WHILE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cos(x) - x;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 x1 = 1;  tol = 1e-6;  maxit = 50;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= 0;  err 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&amp;&amp; iter &lt; maxit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 = x1 - f(x1)*(x1 - x0)/(f(x1) - f(x0));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 = abs(x2 - x1);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  = x1;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  = x2;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 = iter + 1;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fprintf('Iter %2d:  x = %.8f   error = %.2e\n', iter, x1, err);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 found in %d iterations\n', x1, iter);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57276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1:  x = 0.68507336   error = 3.15e-01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2:  x = 0.73629900   error = 5.12e-02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3:  x = 0.73911936   error = 2.82e-03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4:  x = 0.73908511   error = 3.42e-05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  5:  x = 0.73908513   error = 2.11e-08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0.739085 found in 5 iterations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Runge-Kutta (4th Order)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dy/dx = x + y, y(0) = 1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0 ≤ x ≤ 1 with step h = 0.1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Exact: y = 2eˣ − x − 1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y(n+1) = y(n) + (h/6)(k1+2k2+2k3+k4)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= f(x, y)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 = f(x+h/2, y+h·k1/2)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 = f(x+h/2, y+h·k2/2)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k4 = f(x+h, y+h·k3)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0233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3840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3.436559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40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y(1) by RK4 (exact 3.436564)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2" name="Chart 0"/>
          <p:cNvGraphicFramePr/>
          <p:nvPr/>
        </p:nvGraphicFramePr>
        <p:xfrm>
          <a:off x="4754880" y="1234440"/>
          <a:ext cx="3840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 METHOD (4TH ORDER)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&amp; pseudo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rk_f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21" y="1234440"/>
            <a:ext cx="3295157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57276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f(x,y), x0, y0, h, xend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(xend - x0) / 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y0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f(x, 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f(x + h/2, y + h*k1/2)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f(x + h/2, y + h*k2/2)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f(x + h, y + h*k3)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y + (h/6)*(k1+2*k2+2*k3+k4)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x, 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 METHOD (4TH ORDER)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code &amp;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56616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4th-order Runge-Kutta using a FOR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@(x,y) x + y;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 y0 = 1;  h = 0.1;  xend 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 = round((xend - x0)/h);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x0;  y = y0;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fprintf('%6s %12s %12s\n','x','y (RK4)','y (exact)');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f(x, y);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f(x + h/2, y + h*k1/2);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f(x + h/2, y + h*k2/2);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f(x + h,   y + h*k3);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= y + (h/6)*(k1 + 2*k2 + 2*k3 + k4);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= x + h;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fprintf('%6.2f %12.6f %12.6f\n', x, y, 2*exp(x)-x-1);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57276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x      y (RK4)    y (exact)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0.10     1.110342     1.110342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0.20     1.242805     1.242806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0.30     1.399717     1.399718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0.40     1.583648     1.583649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0.50     1.797441     1.797443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0.60     2.044236     2.044238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0.70     2.327503     2.327505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0.80     2.651079     2.651082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0.90     3.019203     3.019206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1.00     3.436559     3.436564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 METHOD (4TH ORDER)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&amp; pseudo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rk_wh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05" y="1234440"/>
            <a:ext cx="359259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57276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f(x,y), x0, y0, h, xend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y0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f(x, 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f(x + h/2, y + h*k1/2)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f(x + h/2, y + h*k2/2)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f(x + h, y + h*k3)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y + (h/6)*(k1+2*k2+2*k3+k4)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x, 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 METHOD (4TH ORDER)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 code &amp;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22376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356616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4th-order Runge-Kutta using a WHILE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clc; clear;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@(x,y) x + y;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 y0 = 1;  h = 0.1;  xend 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x0;  y = y0;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fprintf('%6s %12s %12s\n','x','y (RK4)','y (exact)');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xend - 1e-10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f(x, y);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f(x + h/2, y + h*k1/2);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f(x + h/2, y + h*k2/2);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f(x + h,   y + h*k3);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= y + (h/6)*(k1 + 2*k2 + 2*k3 + k4);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= x + h;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fprintf('%6.2f %12.6f %12.6f\n', x, y, 2*exp(x)-x-1);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91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57276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x      y (RK4)    y (exact)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0.10     1.110342     1.110342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0.20     1.242805     1.242806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0.30     1.399717     1.399718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0.40     1.583648     1.583649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0.50     1.797441     1.797443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0.60     2.044236     2.044238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0.70     2.327503     2.327505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0.80     2.651079     2.651082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0.90     3.019203     3.019206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1.00     3.436559     3.436564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 vs WHILE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passes is fixed by the range 1:maxit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 is handled by MATLAB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break to stop early when err &lt; tol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step count is known (RK4: N = 10)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5087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until the condition becomes false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update iter or x yourself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and maxit sit in the loop condition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step count is unknown (root finding)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8880" cy="2103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2.094551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iterations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468880" cy="2103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0.739085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468880" cy="2103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Runge-Kutta (RK4)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3.436559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y(1); exact 3.436564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and while versions of each method give identical results; only the loop control differs.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2583</Words>
  <Application>Microsoft Office PowerPoint</Application>
  <PresentationFormat>On-screen Show (16:9)</PresentationFormat>
  <Paragraphs>409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Gill Sans MT</vt:lpstr>
      <vt:lpstr>Gallery</vt:lpstr>
      <vt:lpstr>AMI MATLAB GROUP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Methods using FOR and WHILE Loops</dc:title>
  <dc:subject>PptxGenJS Presentation</dc:subject>
  <dc:creator>PptxGenJS</dc:creator>
  <cp:lastModifiedBy>ATUHAIRWE DEOGRATIUS</cp:lastModifiedBy>
  <cp:revision>4</cp:revision>
  <dcterms:created xsi:type="dcterms:W3CDTF">2026-09-28T18:40:14Z</dcterms:created>
  <dcterms:modified xsi:type="dcterms:W3CDTF">2026-09-29T04:03:45Z</dcterms:modified>
</cp:coreProperties>
</file>